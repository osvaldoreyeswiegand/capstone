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12191675"/>
  <p:embeddedFontLst>
    <p:embeddedFont>
      <p:font typeface="Fraunces"/>
      <p:regular r:id="rId18"/>
      <p:bold r:id="rId19"/>
      <p:italic r:id="rId20"/>
      <p:boldItalic r:id="rId21"/>
    </p:embeddedFont>
    <p:embeddedFont>
      <p:font typeface="Fraunces Medium"/>
      <p:regular r:id="rId22"/>
      <p:bold r:id="rId23"/>
      <p:italic r:id="rId24"/>
      <p:boldItalic r:id="rId25"/>
    </p:embeddedFont>
    <p:embeddedFont>
      <p:font typeface="Epilogue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G+nwD3g6slTPYtn2XX3VAwUr3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F136D1-6A25-4A01-B55C-F784549604AA}">
  <a:tblStyle styleId="{6AF136D1-6A25-4A01-B55C-F784549604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unces-italic.fntdata"/><Relationship Id="rId22" Type="http://schemas.openxmlformats.org/officeDocument/2006/relationships/font" Target="fonts/FrauncesMedium-regular.fntdata"/><Relationship Id="rId21" Type="http://schemas.openxmlformats.org/officeDocument/2006/relationships/font" Target="fonts/Fraunces-boldItalic.fntdata"/><Relationship Id="rId24" Type="http://schemas.openxmlformats.org/officeDocument/2006/relationships/font" Target="fonts/FrauncesMedium-italic.fntdata"/><Relationship Id="rId23" Type="http://schemas.openxmlformats.org/officeDocument/2006/relationships/font" Target="fonts/Fraunces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pilogue-bold.fntdata"/><Relationship Id="rId25" Type="http://schemas.openxmlformats.org/officeDocument/2006/relationships/font" Target="fonts/FrauncesMedium-boldItalic.fntdata"/><Relationship Id="rId28" Type="http://customschemas.google.com/relationships/presentationmetadata" Target="metadata"/><Relationship Id="rId27" Type="http://schemas.openxmlformats.org/officeDocument/2006/relationships/font" Target="fonts/Epilog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Fraunces-bold.fntdata"/><Relationship Id="rId18" Type="http://schemas.openxmlformats.org/officeDocument/2006/relationships/font" Target="fonts/Fraunce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9dd91d9a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9dd91d9a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9dd91d9a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61475" y="1914723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Sistema Predictivo de Demanda y Optimización de Inventario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1475" y="3171627"/>
            <a:ext cx="10868745" cy="3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raunces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Machine Learning para el sector textil y calzado mayorista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1475" y="3809504"/>
            <a:ext cx="10868745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1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Equipo:</a:t>
            </a: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Osvaldo Reyes &amp; Lucas Carvajal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Duoc Ingeniería en Informática · Viña del Mar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1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Cliente:</a:t>
            </a: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Mundo Bags SpA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8100" y="6457950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61475" y="56356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Problemática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50305"/>
            <a:ext cx="4431395" cy="443150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5766251" y="1650305"/>
            <a:ext cx="5770220" cy="1215529"/>
          </a:xfrm>
          <a:prstGeom prst="roundRect">
            <a:avLst>
              <a:gd fmla="val 6531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80657" y="1864717"/>
            <a:ext cx="53414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Sobrestock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80657" y="2349004"/>
            <a:ext cx="534140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Capital inmovilizado, costos de almacenamiento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766251" y="3054846"/>
            <a:ext cx="5770220" cy="1215529"/>
          </a:xfrm>
          <a:prstGeom prst="roundRect">
            <a:avLst>
              <a:gd fmla="val 6531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980657" y="3269258"/>
            <a:ext cx="53414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Quiebre de Stock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80657" y="3753545"/>
            <a:ext cx="534140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Pérdida de ventas, insatisfacción del cliente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766251" y="4459387"/>
            <a:ext cx="5770220" cy="1215529"/>
          </a:xfrm>
          <a:prstGeom prst="roundRect">
            <a:avLst>
              <a:gd fmla="val 6531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980657" y="4673798"/>
            <a:ext cx="53414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Decisiones Empíricas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80657" y="5158085"/>
            <a:ext cx="534140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Sin datos, sin predicción, sin estrategia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8100" y="6457961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661475" y="168820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Solución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56880"/>
            <a:ext cx="3496877" cy="251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6410" y="282694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875881" y="3412827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Data-Driven Decisions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75881" y="3821509"/>
            <a:ext cx="3068065" cy="7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Predicciones basadas en datos históricos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359" y="2656880"/>
            <a:ext cx="3496877" cy="251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2294" y="282694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4561766" y="3412827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Machine Learning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61766" y="3821509"/>
            <a:ext cx="3068065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Algoritmos de series de tiempo (Prophet, XGBoost)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244" y="2656880"/>
            <a:ext cx="3496877" cy="2512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179" y="282694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8247650" y="3412827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Optimización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47650" y="3821509"/>
            <a:ext cx="3068065" cy="7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Inventario inteligente, reducción de costos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58100" y="6457944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661475" y="99228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Intereses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61475" y="1960959"/>
            <a:ext cx="5339820" cy="1857871"/>
          </a:xfrm>
          <a:prstGeom prst="roundRect">
            <a:avLst>
              <a:gd fmla="val 4273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56832" y="2156321"/>
            <a:ext cx="567021" cy="567035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800" y="2312194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856832" y="2912368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Cliente (Mundo Bags)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56832" y="3321050"/>
            <a:ext cx="49491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Optimizar inventario, reducir costos operacionales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90301" y="1960959"/>
            <a:ext cx="5339919" cy="1857871"/>
          </a:xfrm>
          <a:prstGeom prst="roundRect">
            <a:avLst>
              <a:gd fmla="val 4273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385658" y="2156321"/>
            <a:ext cx="567021" cy="567035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1626" y="2312194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6385658" y="2912368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Equipo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385658" y="3321050"/>
            <a:ext cx="494920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Aplicar ML en proyecto real, experiencia profesional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61475" y="4007842"/>
            <a:ext cx="5339820" cy="1857871"/>
          </a:xfrm>
          <a:prstGeom prst="roundRect">
            <a:avLst>
              <a:gd fmla="val 4273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800" y="4359077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Universidad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56832" y="5367933"/>
            <a:ext cx="49491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Proyecto de título con impacto empresarial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90301" y="4007842"/>
            <a:ext cx="5339919" cy="1857871"/>
          </a:xfrm>
          <a:prstGeom prst="roundRect">
            <a:avLst>
              <a:gd fmla="val 4273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1626" y="4359077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Mercado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385658" y="5367933"/>
            <a:ext cx="494920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Solución escalable para el sector textil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58100" y="6457938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661463" y="747444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Factibilidad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61525" y="1861197"/>
            <a:ext cx="5339700" cy="3135600"/>
          </a:xfrm>
          <a:prstGeom prst="roundRect">
            <a:avLst>
              <a:gd fmla="val 3675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56837" y="2019775"/>
            <a:ext cx="567000" cy="567000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88" y="2175726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521407" y="2135600"/>
            <a:ext cx="4949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Recursos Técnicos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86100" y="2930842"/>
            <a:ext cx="49491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lang="en-US" sz="205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- </a:t>
            </a:r>
            <a:r>
              <a:rPr b="0" i="0" lang="en-US" sz="2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Visual Studio Code</a:t>
            </a:r>
            <a:endParaRPr sz="2050">
              <a:solidFill>
                <a:srgbClr val="EBECEF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lang="en-US" sz="205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b="0" i="0" lang="en-US" sz="2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Python </a:t>
            </a:r>
            <a:endParaRPr sz="2050">
              <a:solidFill>
                <a:srgbClr val="EBECEF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lang="en-US" sz="205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-</a:t>
            </a:r>
            <a:r>
              <a:rPr b="0" i="0" lang="en-US" sz="2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SQL Server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190300" y="1857872"/>
            <a:ext cx="5340000" cy="3135600"/>
          </a:xfrm>
          <a:prstGeom prst="roundRect">
            <a:avLst>
              <a:gd fmla="val 3675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385658" y="2019803"/>
            <a:ext cx="567000" cy="567000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1626" y="2175776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7064383" y="2135563"/>
            <a:ext cx="4949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Cliente Disponible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385650" y="2930860"/>
            <a:ext cx="49491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2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Mundo Bags SpA comprometida con el levantamiento de requerimientos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58100" y="6457947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661463" y="986999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Objetivos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61325" y="1955672"/>
            <a:ext cx="10868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Desarrollar un sistema predictivo de demanda e inventario basado en Machine Learning que optimice la gestión de stock y reduzca costos operacionales en Mundo Bags SpA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027650"/>
            <a:ext cx="3496874" cy="26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6410" y="319772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875875" y="3660775"/>
            <a:ext cx="3068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9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Objetivo Específico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75825" y="4061775"/>
            <a:ext cx="3068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Crear un Data Warehouse que centralice y organice datos históricos de ventas e inventario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350" y="3027650"/>
            <a:ext cx="3496874" cy="26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2294" y="319772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4561766" y="3660783"/>
            <a:ext cx="306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9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Objetivo Específico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61775" y="4061800"/>
            <a:ext cx="3068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Entrenar modelos ML (Prophet, XGBoost) con precisión ≥ 85% para predicción de demanda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250" y="3027649"/>
            <a:ext cx="3496874" cy="26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179" y="3197721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8247625" y="3660783"/>
            <a:ext cx="306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9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Objetivo Específico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47650" y="4061875"/>
            <a:ext cx="3068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6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Desarrollar una interfaz web intuitiva que permita visualizar predicciones y tomar decisiones informadas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19925" y="6353175"/>
            <a:ext cx="25717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5233423" y="785279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Metodología: Scrum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233350" y="1977562"/>
            <a:ext cx="6297000" cy="1916700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447900" y="2135645"/>
            <a:ext cx="58680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22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¿Por qué Scrum?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47775" y="2734982"/>
            <a:ext cx="58680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Iterativo e incremental, perfecto para ML donde refinamos modelos continuamente.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233350" y="4035625"/>
            <a:ext cx="6297000" cy="2022000"/>
          </a:xfrm>
          <a:prstGeom prst="roundRect">
            <a:avLst>
              <a:gd fmla="val 4230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447850" y="4121182"/>
            <a:ext cx="58680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23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Beneficios Clave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447775" y="4630877"/>
            <a:ext cx="58680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00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Char char="•"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Adaptabilidad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Char char="•"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Feedback rápido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Char char="•"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Entregas incrementales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7036" y="6361675"/>
            <a:ext cx="2524628" cy="4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661475" y="153729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Roles e Integrantes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24038"/>
            <a:ext cx="5203794" cy="24839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977479" y="2838450"/>
            <a:ext cx="4673384" cy="3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 Medium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Osvaldo Reyes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77479" y="3381871"/>
            <a:ext cx="4673384" cy="151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1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Líder Técnico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Data Warehouse (SQL Server), algoritmos ML (Python), lógica de negocio e interfaz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2775" y="2624052"/>
            <a:ext cx="5203802" cy="24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6648780" y="2838450"/>
            <a:ext cx="4673384" cy="3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2200"/>
              <a:buFont typeface="Fraunces Medium"/>
              <a:buNone/>
            </a:pPr>
            <a:r>
              <a:rPr b="0" i="0" lang="en-US" sz="2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Lucas Carvajal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648780" y="3381871"/>
            <a:ext cx="4673384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b="1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Analista Funcional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Epilogue"/>
              <a:buNone/>
            </a:pPr>
            <a:r>
              <a:rPr lang="en-US" sz="1850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</a:t>
            </a:r>
            <a:r>
              <a:rPr b="0" i="0" lang="en-US" sz="18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equerimientos, historias de usuario, documentación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9925" y="6353179"/>
            <a:ext cx="25717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661475" y="583704"/>
            <a:ext cx="10868745" cy="46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Fraunces Medium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Tecnologías — Uso — ¿Por qué?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9"/>
          <p:cNvGraphicFramePr/>
          <p:nvPr/>
        </p:nvGraphicFramePr>
        <p:xfrm>
          <a:off x="661475" y="1275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{6AF136D1-6A25-4A01-B55C-F784549604AA}</a:tableStyleId>
              </a:tblPr>
              <a:tblGrid>
                <a:gridCol w="2173750"/>
                <a:gridCol w="2173750"/>
                <a:gridCol w="3260625"/>
                <a:gridCol w="3260625"/>
              </a:tblGrid>
              <a:tr h="36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Fase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Tecnología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Uso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¿Por qué?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1 - DATA WAREHOUSE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SQL Server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Gestión de base de datos relacional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Escalabilidad, seguridad empresarial, soporte para datos complejos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Python (ETL)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Extracción y transformación de datos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Limpieza de valores atípicos, transformación flexible de datos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2 - MACHINE LEARNING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Python (Pandas, NumPy)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Manipulación y análisis de datos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Librerías estándar para análisis de datos, rendimiento optimizado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Prophet / XGBoost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Predicción de series de tiempo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Modelos robustos para series de tiempo, alta precisión en predicciones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Scikit-learn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Validación cruzada, métricas de precisión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Validación cruzada, métricas de precisión, herramientas de evaluación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150"/>
                        <a:buFont typeface="Epilogue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72525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3 - SISTEMA COMPLETO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Flask / FastAPI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API REST para integración backend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APIs ligeras y rápidas, fácil integración con modelos ML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React / HTML5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Interfaz web responsiva y moderna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Interfaz moderna, responsiva, experiencia de usuario profesional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  <a:tr h="57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Plotly / Matplotlib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Visualización de predicciones y dashboards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BECEF"/>
                        </a:buClr>
                        <a:buSzPts val="1150"/>
                        <a:buFont typeface="Epilogue"/>
                        <a:buNone/>
                      </a:pPr>
                      <a:r>
                        <a:rPr lang="en-US" sz="1150" u="none" cap="none" strike="noStrike">
                          <a:solidFill>
                            <a:srgbClr val="EBECEF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Visualización interactiva de predicciones, dashboards intuitivos</a:t>
                      </a:r>
                      <a:endParaRPr sz="115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6350" marB="6350" marR="147675" marL="147675" anchor="ctr">
                    <a:lnL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8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E26"/>
                    </a:solidFill>
                  </a:tcPr>
                </a:tc>
              </a:tr>
            </a:tbl>
          </a:graphicData>
        </a:graphic>
      </p:graphicFrame>
      <p:pic>
        <p:nvPicPr>
          <p:cNvPr id="158" name="Google Shape;15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5175" y="6492079"/>
            <a:ext cx="1486508" cy="291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661475" y="519807"/>
            <a:ext cx="10868745" cy="581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Fraunces Medium"/>
              <a:buNone/>
            </a:pPr>
            <a:r>
              <a:rPr b="0" i="0" lang="en-US" sz="365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Riesgos y Mitigación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63" y="1641923"/>
            <a:ext cx="5342798" cy="19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1243" y="1809305"/>
            <a:ext cx="223237" cy="2232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872893" y="2386163"/>
            <a:ext cx="4920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00"/>
              <a:buFont typeface="Fraunces Medium"/>
              <a:buNone/>
            </a:pPr>
            <a:r>
              <a:rPr b="0" i="0" lang="en-US" sz="18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Riesgo: Datos históricos incompletos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72893" y="2786709"/>
            <a:ext cx="4920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Mitigación: Generación de dataset sintético realista para entrenar modelos robustos.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7411" y="1641923"/>
            <a:ext cx="5342798" cy="19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7192" y="1809305"/>
            <a:ext cx="223237" cy="22324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6398842" y="2386163"/>
            <a:ext cx="4920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00"/>
              <a:buFont typeface="Fraunces Medium"/>
              <a:buNone/>
            </a:pPr>
            <a:r>
              <a:rPr b="0" i="0" lang="en-US" sz="18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Riesgo: Baja precisión del modelo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398842" y="2786709"/>
            <a:ext cx="4920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Mitigación: Validación cruzada rigurosa y ajuste de hiperparámetros para optimizar el rendimiento.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63" y="3771852"/>
            <a:ext cx="5342798" cy="19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1243" y="3939234"/>
            <a:ext cx="223237" cy="22324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872893" y="4516091"/>
            <a:ext cx="4920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00"/>
              <a:buFont typeface="Fraunces Medium"/>
              <a:buNone/>
            </a:pPr>
            <a:r>
              <a:rPr b="0" i="0" lang="en-US" sz="18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Riesgo: Cambios en requerimientos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72893" y="4916638"/>
            <a:ext cx="4920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Mitigación: Metodología Scrum con feedback iterativo para adaptación constante.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7411" y="3771852"/>
            <a:ext cx="5342798" cy="19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7192" y="3939234"/>
            <a:ext cx="223237" cy="22324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6398842" y="4516091"/>
            <a:ext cx="4920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00"/>
              <a:buFont typeface="Fraunces Medium"/>
              <a:buNone/>
            </a:pPr>
            <a:r>
              <a:rPr b="0" i="0" lang="en-US" sz="18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Riesgo: Integración técnica compleja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398842" y="4916638"/>
            <a:ext cx="4920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Mitigación: Diseño con arquitectura modular y pruebas unitarias para facilitar la implementación.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19925" y="6353173"/>
            <a:ext cx="25717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661475" y="539849"/>
            <a:ext cx="10868745" cy="4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Fraunces Medium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Cronograma — 18 Semanas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086323" y="1269305"/>
            <a:ext cx="19050" cy="5048746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654236" y="1874044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6038302" y="1826022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61475" y="1269305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821312" y="1429147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1: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821312" y="1743869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S1-S2: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Reunión inicial y levantamiento de requerimientos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076798" y="2737842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6038302" y="2689820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6556509" y="2133104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6716346" y="2292945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1: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716346" y="2607667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S2-S5: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Diseño e implementación Data Warehouse SQL Server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654236" y="3476923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038302" y="3428901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61475" y="2872184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821312" y="3032026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2: MACHINE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21312" y="3346748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S6-S11: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Entrenamiento modelos ML (Prophet / XGBoost)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076798" y="4216003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6038302" y="4167981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556509" y="3611265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716346" y="3771106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2: MACHINE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716346" y="4085828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S10-S14: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Desarrollo API, interfaz web e integración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654236" y="4955084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6038302" y="4907062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61475" y="4350345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821312" y="4510187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3: SISTEMA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21312" y="4824909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S12-S16: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Continuación desarrollo e integración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076798" y="5694164"/>
            <a:ext cx="460661" cy="19050"/>
          </a:xfrm>
          <a:prstGeom prst="roundRect">
            <a:avLst>
              <a:gd fmla="val 49999" name="adj"/>
            </a:avLst>
          </a:prstGeom>
          <a:solidFill>
            <a:srgbClr val="41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038302" y="5646142"/>
            <a:ext cx="115091" cy="115094"/>
          </a:xfrm>
          <a:prstGeom prst="ellipse">
            <a:avLst/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6556509" y="5089426"/>
            <a:ext cx="4973712" cy="1228626"/>
          </a:xfrm>
          <a:prstGeom prst="roundRect">
            <a:avLst>
              <a:gd fmla="val 5250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716346" y="5249267"/>
            <a:ext cx="465403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500"/>
              <a:buFont typeface="Fraunces Medium"/>
              <a:buNone/>
            </a:pPr>
            <a:r>
              <a:rPr b="0" i="0" lang="en-US" sz="15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FASE 3: SISTEMA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716346" y="5563989"/>
            <a:ext cx="465403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Epilogue"/>
              <a:buNone/>
            </a:pPr>
            <a:r>
              <a:rPr b="1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S15-S18:</a:t>
            </a:r>
            <a:r>
              <a:rPr b="0" i="0" lang="en-US" sz="12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 Pruebas, documentación y demostración final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9913" y="6318038"/>
            <a:ext cx="25717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dd91d9aa_0_0"/>
          <p:cNvSpPr txBox="1"/>
          <p:nvPr/>
        </p:nvSpPr>
        <p:spPr>
          <a:xfrm>
            <a:off x="3593763" y="2268100"/>
            <a:ext cx="8144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GITHUB</a:t>
            </a:r>
            <a:endParaRPr sz="5500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pic>
        <p:nvPicPr>
          <p:cNvPr id="226" name="Google Shape;226;g3f9dd91d9a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00" y="1500550"/>
            <a:ext cx="2931000" cy="29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f9dd91d9aa_0_0"/>
          <p:cNvSpPr txBox="1"/>
          <p:nvPr/>
        </p:nvSpPr>
        <p:spPr>
          <a:xfrm>
            <a:off x="3593775" y="3569000"/>
            <a:ext cx="7863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https://github.com/OsvaldoReyesWiegand/Capstone/tree/main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228" name="Google Shape;228;g3f9dd91d9a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9925" y="6353175"/>
            <a:ext cx="25717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2026-09-02T00:57:22Z</dcterms:created>
</cp:coreProperties>
</file>